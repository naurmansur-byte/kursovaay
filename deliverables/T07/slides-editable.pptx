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 недели.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- По заданным валентностям составляю простую формулу.</a:t>
            </a:r>
          </a:p>
          <a:p>
            <a:r>
              <a:t>- Нахожу относительную массу по индексам.</a:t>
            </a:r>
          </a:p>
          <a:p>
            <a:r>
              <a:t>- Рассчитываю массовую долю элемента.</a:t>
            </a:r>
          </a:p>
          <a:p>
            <a:r>
              <a:t>- Сохраняю атомы и массу всей замкнутой системы.</a:t>
            </a:r>
          </a:p>
          <a:p>
            <a:r>
              <a:t>- Уравниваю готовую схему; различаю соединение и разложение.</a:t>
            </a:r>
          </a:p>
          <a:p/>
          <a:p>
            <a:r>
              <a:t>Входной вопрос: сколько H и O в 3H₂O? Как найти 25% от 80 г?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0–10 минут. Взять не более двух вопросов pre-work. Это вход по неделе 1, а не проверка новых понятий до объяснения. Все цели сначала объясняем на этом уроке.</a:t>
            </a:r>
          </a:p>
          <a:p/>
          <a:p>
            <a:r>
              <a:t>### Раскрытие ответа</a:t>
            </a:r>
          </a:p>
          <a:p/>
          <a:p>
            <a:r>
              <a:t>3H₂O: H = 3·2 = 6, O = 3·1 = 3, всего 9 атомов. 80·0,25 = 20 г, целое — 80 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3H₂O: H = 3·2 = 6, O = 3·1 = 3, всего 9 атомов. 80·0,25 = 20 г, целое — 80 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Бинарное соединение содержит два элемента. В наших простых формулах число атомов × заданная валентность должно совпасть для обоих элементов.</a:t>
            </a:r>
          </a:p>
          <a:p/>
          <a:p>
            <a:r>
              <a:t>1. Запиши символы в заданном порядке.</a:t>
            </a:r>
          </a:p>
          <a:p>
            <a:r>
              <a:t>2. Найди НОК двух валентностей.</a:t>
            </a:r>
          </a:p>
          <a:p>
            <a:r>
              <a:t>3. Раздели НОК на каждую валентность — получишь индексы.</a:t>
            </a:r>
          </a:p>
          <a:p>
            <a:r>
              <a:t>4. Возьми наименьшие целые индексы; 1 не пиши.</a:t>
            </a:r>
          </a:p>
          <a:p>
            <a:r>
              <a:t>5. Проверь равенство произведений.</a:t>
            </a:r>
          </a:p>
          <a:p/>
          <a:p>
            <a:r>
              <a:t>Число II в условии — валентность, а не индекс в формуле.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L1. Определение валентности проговорить до алгоритма по плану. Значения даны; не учим выводить их из зарядов или строения атома. Не объявлять валентность элемента одинаковой во всех веществах.</a:t>
            </a:r>
          </a:p>
          <a:p/>
          <a:p>
            <a:r>
              <a:t>### Раскрытие ответа</a:t>
            </a:r>
          </a:p>
          <a:p/>
          <a:p>
            <a:r>
              <a:t>Если оба значения II, НОК = 2; каждый индекс 2/2 = 1. Равенство 1·II = 1·II выполняется.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Если оба значения II, НОК = 2; каждый индекс 2/2 = 1. Равенство 1·II = 1·II выполняется.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**Mg(II) и Cl(I)**: НОК(2, 1) = 2. Индексы Mg: 2/2 = 1; Cl: 2/1 = 2. **MgCl₂**.</a:t>
            </a:r>
          </a:p>
          <a:p/>
          <a:p>
            <a:r>
              <a:t>**Al(III) и O(II)**: НОК(3, 2) = 6. Индексы Al: 6/3 = 2; O: 6/2 = 3. **Al₂O₃**.</a:t>
            </a:r>
          </a:p>
          <a:p/>
          <a:p>
            <a:r>
              <a:t>Задание после объяснения: для каждой формулы проверь произведение индекса на валентность.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L1. Показывать по одному примеру. В MgCl₂ единица Mg не пишется. Назвать Cl единым символом. НОК — математический способ получить простое соотношение.</a:t>
            </a:r>
          </a:p>
          <a:p/>
          <a:p>
            <a:r>
              <a:t>### Раскрытие ответа</a:t>
            </a:r>
          </a:p>
          <a:p/>
          <a:p>
            <a:r>
              <a:t>MgCl₂: 1·II = 2·I = 2. Al₂O₃: 2·III = 3·II = 6. Равны суммы валентностей, а не сами индексы.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MgCl₂: 1·II = 2·I = 2. Al₂O₃: 2·III = 3·II = 6. Равны суммы валентностей, а не сами индексы.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Даны Ca(II) и O(II). НОК(2, 2) = 2. Индексы 1 : 1, формула **CaO**.</a:t>
            </a:r>
          </a:p>
          <a:p/>
          <a:p>
            <a:r>
              <a:t>Запись Ca₂O₂ содержит излишний общий множитель: простое соотношение 2 : 2 сокращаем до 1 : 1.</a:t>
            </a:r>
          </a:p>
          <a:p/>
          <a:p>
            <a:r>
              <a:t>Короткий вопрос: какие индексы нужны для Mg(II) и O(II)?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L1. Различать составление простой формулы по условию и изменение уже заданной формулы вещества. Не распространять механическое сокращение на любую реальную молекулярную формулу.</a:t>
            </a:r>
          </a:p>
          <a:p/>
          <a:p>
            <a:r>
              <a:t>### Раскрытие ответа</a:t>
            </a:r>
          </a:p>
          <a:p/>
          <a:p>
            <a:r>
              <a:t>MgO: 1 : 1, 1·II = 1·II = 2. Индекс 1 не пишется.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MgO: 1 : 1, 1·II = 1·II = 2. Индекс 1 не пишется.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Aᵣ — относительная атомная масса: отношение средней массы атомов элемента к единице сравнения — 1/12 массы атома углерода-12. Это число **без единиц**.</a:t>
            </a:r>
          </a:p>
          <a:p/>
          <a:p>
            <a:r>
              <a:t>| Элемент | H | O | C | Mg | Al | Ca | Na | Cl |</a:t>
            </a:r>
          </a:p>
          <a:p>
            <a:r>
              <a:t>|---|---:|---:|---:|---:|---:|---:|---:|---:|</a:t>
            </a:r>
          </a:p>
          <a:p>
            <a:r>
              <a:t>| Данное Aᵣ | 1 | 16 | 12 | 24 | 27 | 40 | 23 | 35,5 |</a:t>
            </a:r>
          </a:p>
          <a:p/>
          <a:p>
            <a:r>
              <a:t>Справку используем, не заучиваем. В H₂O число 2 — индекс; Aᵣ(H) = 1 — отдельное данное.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L2. Не смешивать относительную массу с массой образца в г. Строение атома и изотопные вычисления не вводим. Все вычисления идут по одной справке, округлённые значения не менять посреди решения.</a:t>
            </a:r>
          </a:p>
          <a:p/>
          <a:p>
            <a:r>
              <a:t>### Раскрытие ответа</a:t>
            </a:r>
          </a:p>
          <a:p/>
          <a:p>
            <a:r>
              <a:t>Вклад H в относительную массу H₂O: 2·1 = 2. Индекс показывает число атомов H, Aᵣ — относительную массу одного атома в используемой справке.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Вклад H в относительную массу H₂O: 2·1 = 2. Индекс показывает число атомов H, Aᵣ — относительную массу одного атома в используемой справке.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**Прочитай индексы → умножь на Aᵣ → сложи.**</a:t>
            </a:r>
          </a:p>
          <a:p/>
          <a:p>
            <a:r>
              <a:t>- H₂O: Mᵣ = 2·1 + 16 = **18**, относительная молекулярная масса.</a:t>
            </a:r>
          </a:p>
          <a:p>
            <a:r>
              <a:t>- MgO: Mᵣ = 24 + 16 = **40**, относительная формульная масса.</a:t>
            </a:r>
          </a:p>
          <a:p/>
          <a:p>
            <a:r>
              <a:t>Оба ответа без единиц. MgO — формульная единица, не отдельная молекула.</a:t>
            </a:r>
          </a:p>
          <a:p/>
          <a:p>
            <a:r>
              <a:t>Вопрос: чему равна Mᵣ одной молекулы H₂O в записи 3H₂O?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L2. Показать два полностью разобранных примера. Коэффициент считает единицы, Mᵣ рассчитывается по одной формуле. Не заменять понятие относительной массы величиной с г/моль.</a:t>
            </a:r>
          </a:p>
          <a:p/>
          <a:p>
            <a:r>
              <a:t>### Раскрытие ответа</a:t>
            </a:r>
          </a:p>
          <a:p/>
          <a:p>
            <a:r>
              <a:t>**18**, коэффициент 3 не включаем. Масса произвольного образца воды в граммах из такой записи не известна.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**18**, коэффициент 3 не включаем. Масса произвольного образца воды в граммах из такой записи не известна.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**ω(E) = N·Aᵣ(E)/Mᵣ.** Для процента: **ω(E) · 100%**.</a:t>
            </a:r>
          </a:p>
          <a:p/>
          <a:p>
            <a:r>
              <a:t>- N — число атомов выбранного элемента в одной формуле.</a:t>
            </a:r>
          </a:p>
          <a:p>
            <a:r>
              <a:t>- N·Aᵣ(E) — вклад выбранного элемента.</a:t>
            </a:r>
          </a:p>
          <a:p>
            <a:r>
              <a:t>- Mᵣ — относительная масса всей формулы.</a:t>
            </a:r>
          </a:p>
          <a:p>
            <a:r>
              <a:t>- 0 ≤ ω ≤ 1; процент от 0 до 100%.</a:t>
            </a:r>
          </a:p>
          <a:p/>
          <a:p>
            <a:r>
              <a:t>Вопрос: для H в H₂O какое число надо поставить вместо N?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L3. Произнесённое «часть/целое» связываем с процентами недели 1. N в этой формуле обозначает число атомов по индексу; других смыслов символа не вводим. Формула относится к составу чистого вещества.</a:t>
            </a:r>
          </a:p>
          <a:p/>
          <a:p>
            <a:r>
              <a:t>### Раскрытие ответа</a:t>
            </a:r>
          </a:p>
          <a:p/>
          <a:p>
            <a:r>
              <a:t>N = **2**, вклад H = 2·1 = 2. Знаменатель Mᵣ(H₂O) = 18; ω(H) = 2/18 ≈ 0,1111, или 11,1%.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N = **2**, вклад H = 2·1 = 2. Знаменатель Mᵣ(H₂O) = 18; ω(H) = 2/18 ≈ 0,1111, или 11,1%.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**H₂O:** Mᵣ = 18; ω(O) = 16/18 ≈ 0,8889, или **88,9%** после округления.</a:t>
            </a:r>
          </a:p>
          <a:p/>
          <a:p>
            <a:r>
              <a:t>**MgO:** Mᵣ = 40; ω(O) = 16/40 = 0,4 = **40%**.</a:t>
            </a:r>
          </a:p>
          <a:p/>
          <a:p>
            <a:r>
              <a:t>Записываем процент только после умножения доли на 100%. Округляем окончательный процент до десятых, если он не целый.</a:t>
            </a:r>
          </a:p>
          <a:p/>
          <a:p>
            <a:r>
              <a:t>Задание: проверь долю кислорода в MgO по доле Mg.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L3. В дроби H₂O не сравнивать только O с H; знаменатель включает всю формулу. Запись 0,4% вместо 40% — отдельная ошибка единицы представления.</a:t>
            </a:r>
          </a:p>
          <a:p/>
          <a:p>
            <a:r>
              <a:t>### Раскрытие ответа</a:t>
            </a:r>
          </a:p>
          <a:p/>
          <a:p>
            <a:r>
              <a:t>ω(Mg) = 24/40 = 0,6 = **60%**; 40% + 60% = 100%. Масса конкретного образца пока не задана.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ω(Mg) = 24/40 = 0,6 = **60%**; 40% + 60% = 100%. Масса конкретного образца пока не задана.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В химической реакции атомы перестраиваются. В замкнутой системе сохраняется **масса всех веществ**:</a:t>
            </a:r>
          </a:p>
          <a:p/>
          <a:p>
            <a:r>
              <a:t>**Сумма масс до = сумма масс после.**</a:t>
            </a:r>
          </a:p>
          <a:p/>
          <a:p>
            <a:r>
              <a:t>Условие для расчёта: в замкнутой системе 12 г Mg и 8 г O₂ полностью превратились только в MgO. Найди массу продукта.</a:t>
            </a:r>
          </a:p>
          <a:p/>
          <a:p>
            <a:r>
              <a:t>Если газ ушёл из открытого сосуда, его нужно учитывать отдельно; масса остатка — не масса всей системы.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L4. Сначала определить границу системы и обмен веществом. Числа и полное превращение даны условием; отношения масс из коэффициентов не выводим. Это задача на бумаге, не опыт с нагреванием сосуда.</a:t>
            </a:r>
          </a:p>
          <a:p/>
          <a:p>
            <a:r>
              <a:t>### Раскрытие ответа</a:t>
            </a:r>
          </a:p>
          <a:p/>
          <a:p>
            <a:r>
              <a:t>m(MgO) = 12 + 8 = **20 г**. В открытом сосуде выход газа меняет массу оставшегося содержимого, не нарушая общего сохранения массы.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m(MgO) = 12 + 8 = **20 г**. В открытом сосуде выход газа меняет массу оставшегося содержимого, не нарушая общего сохранения массы.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Дано: **Mg + O₂ → MgO**, условие — нагрев.</a:t>
            </a:r>
          </a:p>
          <a:p/>
          <a:p>
            <a:r>
              <a:t>1. Посчитай атомы по обе стороны.</a:t>
            </a:r>
          </a:p>
          <a:p>
            <a:r>
              <a:t>2. Меняй только коэффициенты перед целыми формулами.</a:t>
            </a:r>
          </a:p>
          <a:p>
            <a:r>
              <a:t>3. Проверь каждый элемент.</a:t>
            </a:r>
          </a:p>
          <a:p>
            <a:r>
              <a:t>4. Возьми наименьшие целые коэффициенты.</a:t>
            </a:r>
          </a:p>
          <a:p/>
          <a:p>
            <a:r>
              <a:t>**2Mg + O₂ → 2MgO.** Mg: 2 = 2; O: 2 = 2.</a:t>
            </a:r>
          </a:p>
          <a:p/>
          <a:p>
            <a:r>
              <a:t>**Соединение:** несколько исходных веществ → одно вещество.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L5. Раскрывать решение по шагам. Тип определяется числом разных веществ слева/справа, а не коэффициентом 2. Спросить: «Можно ли заменить MgO на MgO₂, чтобы сошёлся O?». Все формулы продуктов уже даны.</a:t>
            </a:r>
          </a:p>
          <a:p/>
          <a:p>
            <a:r>
              <a:t>### Раскрытие ответа</a:t>
            </a:r>
          </a:p>
          <a:p/>
          <a:p>
            <a:r>
              <a:t>Нельзя: изменится заданный продукт, это уже другая схема. Для MgO нужен ответ **2 : 1 : 2**; индекс 1 у O в MgO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Нельзя: изменится заданный продукт, это уже другая схема. Для MgO нужен ответ **2 : 1 : 2**; индекс 1 у O в MgO не меняется.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Дано: **CaCO₃ → CaO + CO₂**, условие — нагрев.</a:t>
            </a:r>
          </a:p>
          <a:p/>
          <a:p>
            <a:r>
              <a:t>| Элемент | Слева | Справа |</a:t>
            </a:r>
          </a:p>
          <a:p>
            <a:r>
              <a:t>|---|---:|---:|</a:t>
            </a:r>
          </a:p>
          <a:p>
            <a:r>
              <a:t>| Ca | 1 | 1 |</a:t>
            </a:r>
          </a:p>
          <a:p>
            <a:r>
              <a:t>| C | 1 | 1 |</a:t>
            </a:r>
          </a:p>
          <a:p>
            <a:r>
              <a:t>| O | 3 | 1 + 2 = 3 |</a:t>
            </a:r>
          </a:p>
          <a:p/>
          <a:p>
            <a:r>
              <a:t>Коэффициенты **1 : 1 : 1**, единицы обычно не пишем.</a:t>
            </a:r>
          </a:p>
          <a:p/>
          <a:p>
            <a:r>
              <a:t>**Разложение:** одно исходное вещество → несколько веществ.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L5. CaCO₃ дано готовым: это не бинарная формула для получения по алгоритму валентностей. Нагрев — условие над стрелкой, не ещё один реагент. Объяснить разложение до самостоятельной попытки и урока 4.</a:t>
            </a:r>
          </a:p>
          <a:p/>
          <a:p>
            <a:r>
              <a:t>### Раскрытие ответа</a:t>
            </a:r>
          </a:p>
          <a:p/>
          <a:p>
            <a:r>
              <a:t>Схема уже уравнена. Одно вещество CaCO₃ образует CaO и CO₂; это разложение независимо от того, что коэффициенты равны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Схема уже уравнена. Одно вещество CaCO₃ образует CaO и CO₂; это разложение независимо от того, что коэффициенты равны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**L6.** Na(I), O(II): составь простую формулу и проверь валентности.</a:t>
            </a:r>
          </a:p>
          <a:p/>
          <a:p>
            <a:r>
              <a:t>**L7.** CaO: найди относительную формульную массу и ω(O) в процентах. Aᵣ(Ca) = 40, Aᵣ(O) = 16.</a:t>
            </a:r>
          </a:p>
          <a:p/>
          <a:p>
            <a:r>
              <a:t>**L8.** Mg + O₂ → MgO: уравняй и назови тип.</a:t>
            </a:r>
          </a:p>
          <a:p/>
          <a:p>
            <a:r>
              <a:t>До урока 4: G1–G3 из ДЗ, **15 минут**. Запиши один вопрос, который остался.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3, 80–90 минут. На X — 4 минуты попытка и 3 минуты ключ; на вопросы/назначение ДЗ — 3 минуты. Критерии 8 учебных баллов в плане урока. Ответы X не открывать до попытки. Не назначать всю оставшуюся домашнюю работу между уроками.</a:t>
            </a:r>
          </a:p>
          <a:p/>
          <a:p>
            <a:r>
              <a:t>### Раскрытие ответа</a:t>
            </a:r>
          </a:p>
          <a:p/>
          <a:p>
            <a:r>
              <a:t>L6: **Na₂O**, 2·I = 1·II = 2. L7: Mᵣ = **56**; ω(O) = 16/56 · 100% ≈ **28,6%**. L8: **2Mg + O₂ → 2MgO**, соединение; Mg 2 = 2, O 2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L6: **Na₂O**, 2·I = 1·II = 2. L7: Mᵣ = **56**; ω(O) = 16/56 · 100% ≈ **28,6%**. L8: **2Mg + O₂ → 2MgO**, соединение; Mg 2 = 2, O 2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**L9.** Ca(II), O(II): формула с наименьшими индексами и относительная формульная масса. Aᵣ(Ca) = 40, O = 16.</a:t>
            </a:r>
          </a:p>
          <a:p/>
          <a:p>
            <a:r>
              <a:t>**L10.** а) MgO: найди ω(O) в %. Aᵣ(Mg) = 24, O = 16. б) CaCO₃ → CaO + CO₂ при нагревании: проверь коэффициенты и назови тип.</a:t>
            </a:r>
          </a:p>
          <a:p/>
          <a:p>
            <a:r>
              <a:t>Самопроверка: **индексы → вся относительная масса → вклад элемента → коэффициенты → атомы → тип**.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4, 0–20 минут. Сначала 5 минут воспроизведение правил, затем L9 7 минут и L10 8. В 20–35 минут разобрать G1–G3 по точным условиям плана урока 4; слайд держать как памятку, не заменять разбор новой лекцией.</a:t>
            </a:r>
          </a:p>
          <a:p/>
          <a:p>
            <a:r>
              <a:t>### Раскрытие ответа</a:t>
            </a:r>
          </a:p>
          <a:p/>
          <a:p>
            <a:r>
              <a:t>L9: **CaO**, 1·II = 1·II; Mᵣ = **56**. L10: **40%**; CaCO₃ → CaO + CO₂, коэффициенты **1 : 1 : 1**, O 3 = 1 + 2, разложение.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L9: **CaO**, 1·II = 1·II; Mᵣ = **56**. L10: **40%**; CaCO₃ → CaO + CO₂, коэффициенты **1 : 1 : 1**, O 3 = 1 + 2, разложение.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**L11.** Даны Mg(II), Na(I), O(II). Составь формулы Mg/O и Na/O, проверь валентности.</a:t>
            </a:r>
          </a:p>
          <a:p/>
          <a:p>
            <a:r>
              <a:t>**L12.** Для данной Al₂O₃ найди Mᵣ и ω(O) в %. Проверь по доле Al. Aᵣ(Al) = 27, Aᵣ(O) = 16.</a:t>
            </a:r>
          </a:p>
          <a:p/>
          <a:p>
            <a:r>
              <a:t>Строки решения: **индекс · Aᵣ → сумма → вклад O / сумма → процент**.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4, 35–50 минут. L11 — 6 минут, L12 — 9. Справка и алгоритм остаются видимыми, ключ раскрывается после шага ученика. Для поддержки дать таблицу «элемент / индекс / Aᵣ / произведение» без готовых произведений.</a:t>
            </a:r>
          </a:p>
          <a:p/>
          <a:p>
            <a:r>
              <a:t>### Раскрытие ответа</a:t>
            </a:r>
          </a:p>
          <a:p/>
          <a:p>
            <a:r>
              <a:t>L11: **MgO**, 1·II = 1·II; **Na₂O**, 2·I = 1·II. L12: Mᵣ = 54 + 48 = **102**; ω(O) = 48/102 · 100% ≈ **47,1%**; ω(Al) ≈ **52,9%**; сумма ≈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L11: **MgO**, 1·II = 1·II; **Na₂O**, 2·I = 1·II. L12: Mᵣ = 54 + 48 = **102**; ω(O) = 48/102 · 100% ≈ **47,1%**; ω(Al) ≈ **52,9%**; сумма ≈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Подбери наименьшие целые коэффициенты. Сохрани все формулы, проверь каждый элемент, назови соединение или разложение.</a:t>
            </a:r>
          </a:p>
          <a:p/>
          <a:p>
            <a:r>
              <a:t>- **L13:** Al + O₂ → Al₂O₃, нагрев.</a:t>
            </a:r>
          </a:p>
          <a:p>
            <a:r>
              <a:t>- **L14:** H₂O₂ → H₂O + O₂, катализатор — данное условие.</a:t>
            </a:r>
          </a:p>
          <a:p>
            <a:r>
              <a:t>- **L16:** H₂ + Cl₂ → HCl, инициирование светом.</a:t>
            </a:r>
          </a:p>
          <a:p/>
          <a:p>
            <a:r>
              <a:t>Схемы решаем **на бумаге**; домашние опыты с нагревом и газами не назначаются.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4: L13/L14 в 50–65 минут, L16 в 65–78 вместе с L15 следующего слайда. Показывать по одной схеме. Катализатор отмечаем как данное условие, без механизма и нового тематического раздела.</a:t>
            </a:r>
          </a:p>
          <a:p/>
          <a:p>
            <a:r>
              <a:t>### Раскрытие ответа</a:t>
            </a:r>
          </a:p>
          <a:p/>
          <a:p>
            <a:r>
              <a:t>L13: **4Al + 3O₂ → 2Al₂O₃**, Al 4 = 4, O 6 = 6, соединение. L14: **2H₂O₂ → 2H₂O + O₂**, H 4 = 4, O 4 = 2 + 2, разложение. L16: **H₂ + Cl₂ → 2HCl**, H 2 = 2, Cl 2 = 2, соединение.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L13: **4Al + 3O₂ → 2Al₂O₃**, Al 4 = 4, O 6 = 6, соединение. L14: **2H₂O₂ → 2H₂O + O₂**, H 4 = 4, O 4 = 2 + 2, разложение. L16: **H₂ + Cl₂ → 2HCl**, H 2 = 2, Cl 2 = 2, соединение.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Текст ученику</a:t>
            </a:r>
          </a:p>
          <a:p/>
          <a:p>
            <a:r>
              <a:t>**L15.** В замкнутой системе 10 г CaCO₃ полностью разложились на CaO и CO₂. Масса CaO — 5,6 г, газ остался в системе. Найди массу CO₂ и суммарную массу продуктов. Почему в открытом сосуде нельзя сравнить только остаток с начальной массой?</a:t>
            </a:r>
          </a:p>
          <a:p/>
          <a:p>
            <a:r>
              <a:t>После практики: **контроль 10 минут, 78–88**. До сдачи ключ закрыт.</a:t>
            </a:r>
          </a:p>
          <a:p/>
          <a:p>
            <a:r>
              <a:t>После урока: **G4–G8 + один A/B/C — 50 минут**, исправления 25 минут, повторение 15 минут.</a:t>
            </a:r>
          </a:p>
          <a:p/>
          <a:p>
            <a:r>
              <a:t>### Заметки преподавателю</a:t>
            </a:r>
          </a:p>
          <a:p/>
          <a:p>
            <a:r>
              <a:t>Урок 4, L15 в 65–78 минут вместе с L16; затем quiz 78–88 и итог 88–90. Не требовать расчёта массы CaO по уравнению: она дана. На время контроля убрать раскрытие с экрана и выдать отдельно ученическую часть [quiz](quiz.md). Назначение ДЗ открывать в конце; суммарный самостоятельный бюджет недели 150 минут.</a:t>
            </a:r>
          </a:p>
          <a:p/>
          <a:p>
            <a:r>
              <a:t>### Раскрытие ответа</a:t>
            </a:r>
          </a:p>
          <a:p/>
          <a:p>
            <a:r>
              <a:t>L15: m(CO₂) = 10 − 5,6 = **4,4 г**; сумма продуктов **10 г**. В открытом сосуде газ ушёл за выбранную границу; масса остатка 5,6 г не равна массе всех продуктов. Ключи и частичные баллы контроля — в преподавательской части quiz; не показывать их до 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после попытки учеников.</a:t>
            </a:r>
          </a:p>
          <a:p/>
          <a:p>
            <a:r>
              <a:t>L15: m(CO₂) = 10 − 5,6 = **4,4 г**; сумма продуктов **10 г**. В открытом сосуде газ ушёл за выбранную границу; масса остатка 5,6 г не равна массе всех продуктов. Ключи и частичные баллы контроля — в преподавательской части quiz; не показывать их до 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ПОДГОТОВКА К 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</a:p>
        </p:txBody>
      </p:sp>
      <p:sp>
        <p:nvSpPr>
          <p:cNvPr id="5" name="Rectangle 4"/>
          <p:cNvSpPr/>
          <p:nvPr/>
        </p:nvSpPr>
        <p:spPr>
          <a:xfrm rot="21420000">
            <a:off x="731520" y="1828800"/>
            <a:ext cx="2834640" cy="77724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Unbounded"/>
              </a:rPr>
              <a:t>НЕДЕЛЯ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770" b="1">
                <a:solidFill>
                  <a:srgbClr val="F3F0E8"/>
                </a:solidFill>
                <a:latin typeface="Unbounded"/>
              </a:rPr>
              <a:t>ФОРМУЛЫ, МАССОВЫЕ ДОЛИ И УРАВНЕНИЯ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8A39A"/>
                </a:solidFill>
                <a:latin typeface="Manrope"/>
              </a:rPr>
              <a:t>Уроки недели · презентация с заметками для преподавателя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Что научимся делать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По заданным валентностям составляю простую формулу.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Нахожу относительную массу по индексам.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Рассчитываю массовую долю элемента.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Сохраняю атомы и массу всей замкнутой системы.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Уравниваю готовую схему; различаю соединение и разложение.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50407"/>
            <a:ext cx="10698480" cy="8046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41847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ВХОДНОЙ ВОПРОС:  </a:t>
            </a:r>
            <a:r>
              <a:rPr sz="1900" b="0">
                <a:solidFill>
                  <a:srgbClr val="F3F0E8"/>
                </a:solidFill>
                <a:latin typeface="Manrope"/>
              </a:rPr>
              <a:t>сколько H и O в 3H₂O? Как найти 25% от 80 г?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Что научимся делать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3H₂O: H = 3·2 = 6, O = 3·1 = 3, всего 9 атомов. 80·0,25 = 20 г, целое — 80 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Валентности даны: найти индексы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Бинарное соединение содержит два элемента. В наших простых формулах число атомов × заданная валентность должно совпасть для обоих элементов.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1.  </a:t>
            </a:r>
            <a:r>
              <a:rPr sz="2200" b="0">
                <a:solidFill>
                  <a:srgbClr val="151515"/>
                </a:solidFill>
                <a:latin typeface="Manrope"/>
              </a:rPr>
              <a:t>Запиши символы в заданном порядке.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2.  </a:t>
            </a:r>
            <a:r>
              <a:rPr sz="2200" b="0">
                <a:solidFill>
                  <a:srgbClr val="151515"/>
                </a:solidFill>
                <a:latin typeface="Manrope"/>
              </a:rPr>
              <a:t>Найди НОК двух валентностей.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3.  </a:t>
            </a:r>
            <a:r>
              <a:rPr sz="2200" b="0">
                <a:solidFill>
                  <a:srgbClr val="151515"/>
                </a:solidFill>
                <a:latin typeface="Manrope"/>
              </a:rPr>
              <a:t>Раздели НОК на каждую валентность — получишь индексы.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4.  </a:t>
            </a:r>
            <a:r>
              <a:rPr sz="2200" b="0">
                <a:solidFill>
                  <a:srgbClr val="151515"/>
                </a:solidFill>
                <a:latin typeface="Manrope"/>
              </a:rPr>
              <a:t>Возьми наименьшие целые индексы; 1 не пиши.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5.  </a:t>
            </a:r>
            <a:r>
              <a:rPr sz="2200" b="0">
                <a:solidFill>
                  <a:srgbClr val="151515"/>
                </a:solidFill>
                <a:latin typeface="Manrope"/>
              </a:rPr>
              <a:t>Проверь равенство произведений.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Число II в условии — валентность, а не индекс в формуле.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2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Валентности даны: найти индексы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Если оба значения II, НОК = 2; каждый индекс 2/2 = 1. Равенство 1·II = 1·II выполняется.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Два разобранных примера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Mg(II) и Cl(I)</a:t>
            </a:r>
            <a:r>
              <a:rPr sz="2200" b="0">
                <a:solidFill>
                  <a:srgbClr val="151515"/>
                </a:solidFill>
                <a:latin typeface="Manrope"/>
              </a:rPr>
              <a:t>: НОК(2, 1) = 2. Индексы Mg: 2/2 = 1; Cl: 2/1 = 2. </a:t>
            </a:r>
            <a:r>
              <a:rPr sz="2200" b="1">
                <a:solidFill>
                  <a:srgbClr val="F13A43"/>
                </a:solidFill>
                <a:latin typeface="Manrope"/>
              </a:rPr>
              <a:t>MgCl₂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Al(III) и O(II)</a:t>
            </a:r>
            <a:r>
              <a:rPr sz="2200" b="0">
                <a:solidFill>
                  <a:srgbClr val="151515"/>
                </a:solidFill>
                <a:latin typeface="Manrope"/>
              </a:rPr>
              <a:t>: НОК(3, 2) = 6. Индексы Al: 6/3 = 2; O: 6/2 = 3. </a:t>
            </a:r>
            <a:r>
              <a:rPr sz="2200" b="1">
                <a:solidFill>
                  <a:srgbClr val="F13A43"/>
                </a:solidFill>
                <a:latin typeface="Manrope"/>
              </a:rPr>
              <a:t>Al₂O₃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02936"/>
            <a:ext cx="10698480" cy="1152144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294375"/>
            <a:ext cx="1033272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ЗАДАНИЕ ПОСЛЕ ОБЪЯСНЕНИЯ:  </a:t>
            </a:r>
            <a:r>
              <a:rPr sz="1900" b="0">
                <a:solidFill>
                  <a:srgbClr val="F3F0E8"/>
                </a:solidFill>
                <a:latin typeface="Manrope"/>
              </a:rPr>
              <a:t>для каждой формулы проверь произведение индекса на валентность.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3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Два разобранных примера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MgCl₂: 1·II = 2·I = 2. Al₂O₃: 2·III = 3·II = 6. Равны суммы валентностей, а не сами индексы.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Наименьшие индексы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Даны Ca(II) и O(II). НОК(2, 2) = 2. Индексы 1 : 1, формула </a:t>
            </a:r>
            <a:r>
              <a:rPr sz="2200" b="1">
                <a:solidFill>
                  <a:srgbClr val="F13A43"/>
                </a:solidFill>
                <a:latin typeface="Manrope"/>
              </a:rPr>
              <a:t>CaO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Запись Ca₂O₂ содержит излишний общий множитель: простое соотношение 2 : 2 сокращаем до 1 : 1.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Короткий вопрос: какие индексы нужны для Mg(II) и O(II)?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4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Наименьшие индексы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MgO: 1 : 1, 1·II = 1·II = 2. Индекс 1 не пишется.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Относительная атомная масса Aᵣ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Aᵣ — относительная атомная масса: отношение средней массы атомов элемента к единице сравнения — 1/12 массы атома углерода-12. Это число </a:t>
            </a:r>
            <a:r>
              <a:rPr sz="2200" b="1">
                <a:solidFill>
                  <a:srgbClr val="F13A43"/>
                </a:solidFill>
                <a:latin typeface="Manrope"/>
              </a:rPr>
              <a:t>без единиц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Элемент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H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C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Mg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Al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Ca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Na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Cl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Данное Aᵣ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35,5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2971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Справку используем, не заучиваем. В H₂O число 2 — индекс; Aᵣ(H) = 1 — отдельное данное.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5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Относительная атомная масса Aᵣ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Вклад H в относительную массу H₂O: 2·1 = 2. Индекс показывает число атомов H, Aᵣ — относительную массу одного атома в используемой справке.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68" b="1">
                <a:solidFill>
                  <a:srgbClr val="151515"/>
                </a:solidFill>
                <a:latin typeface="Unbounded"/>
              </a:rPr>
              <a:t>Относительная масса всей формулы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Прочитай индексы → умножь на Aᵣ → сложи.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H₂O: Mᵣ = 2·1 + 16 = </a:t>
            </a:r>
            <a:r>
              <a:rPr sz="2200" b="1">
                <a:solidFill>
                  <a:srgbClr val="F13A43"/>
                </a:solidFill>
                <a:latin typeface="Manrope"/>
              </a:rPr>
              <a:t>18</a:t>
            </a:r>
            <a:r>
              <a:rPr sz="2200" b="0">
                <a:solidFill>
                  <a:srgbClr val="151515"/>
                </a:solidFill>
                <a:latin typeface="Manrope"/>
              </a:rPr>
              <a:t>, относительная молекулярная масса.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MgO: Mᵣ = 24 + 16 = </a:t>
            </a:r>
            <a:r>
              <a:rPr sz="2200" b="1">
                <a:solidFill>
                  <a:srgbClr val="F13A43"/>
                </a:solidFill>
                <a:latin typeface="Manrope"/>
              </a:rPr>
              <a:t>40</a:t>
            </a:r>
            <a:r>
              <a:rPr sz="2200" b="0">
                <a:solidFill>
                  <a:srgbClr val="151515"/>
                </a:solidFill>
                <a:latin typeface="Manrope"/>
              </a:rPr>
              <a:t>, относительная формульная масса.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Оба ответа без единиц. MgO — формульная единица, не отдельная молекула.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50407"/>
            <a:ext cx="10698480" cy="8046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41847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ВОПРОС:  </a:t>
            </a:r>
            <a:r>
              <a:rPr sz="1900" b="0">
                <a:solidFill>
                  <a:srgbClr val="F3F0E8"/>
                </a:solidFill>
                <a:latin typeface="Manrope"/>
              </a:rPr>
              <a:t>чему равна Mᵣ одной молекулы H₂O в записи 3H₂O?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6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Относительная масса всей формулы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3F0E8"/>
                </a:solidFill>
                <a:latin typeface="Manrope"/>
              </a:rPr>
              <a:t>18</a:t>
            </a:r>
            <a:r>
              <a:rPr sz="2400" b="0">
                <a:solidFill>
                  <a:srgbClr val="F3F0E8"/>
                </a:solidFill>
                <a:latin typeface="Manrope"/>
              </a:rPr>
              <a:t>, коэффициент 3 не включаем. Масса произвольного образца воды в граммах из такой записи не известна.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Массовая доля: часть / целое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ω(E) = N·Aᵣ(E)/Mᵣ.</a:t>
            </a:r>
            <a:r>
              <a:rPr sz="2200" b="0">
                <a:solidFill>
                  <a:srgbClr val="151515"/>
                </a:solidFill>
                <a:latin typeface="Manrope"/>
              </a:rPr>
              <a:t> Для процента: </a:t>
            </a:r>
            <a:r>
              <a:rPr sz="2200" b="1">
                <a:solidFill>
                  <a:srgbClr val="F13A43"/>
                </a:solidFill>
                <a:latin typeface="Manrope"/>
              </a:rPr>
              <a:t>ω(E) · 100%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N — число атомов выбранного элемента в одной формуле.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N·Aᵣ(E) — вклад выбранного элемента.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Mᵣ — относительная масса всей формулы.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0">
                <a:solidFill>
                  <a:srgbClr val="151515"/>
                </a:solidFill>
                <a:latin typeface="Manrope"/>
              </a:rPr>
              <a:t>0 ≤ ω ≤ 1; процент от 0 до 100%.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50407"/>
            <a:ext cx="10698480" cy="8046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41847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ВОПРОС:  </a:t>
            </a:r>
            <a:r>
              <a:rPr sz="1900" b="0">
                <a:solidFill>
                  <a:srgbClr val="F3F0E8"/>
                </a:solidFill>
                <a:latin typeface="Manrope"/>
              </a:rPr>
              <a:t>для H в H₂O какое число надо поставить вместо 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7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Массовая доля: часть / целое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N = </a:t>
            </a:r>
            <a:r>
              <a:rPr sz="2400" b="1">
                <a:solidFill>
                  <a:srgbClr val="F3F0E8"/>
                </a:solidFill>
                <a:latin typeface="Manrope"/>
              </a:rPr>
              <a:t>2</a:t>
            </a:r>
            <a:r>
              <a:rPr sz="2400" b="0">
                <a:solidFill>
                  <a:srgbClr val="F3F0E8"/>
                </a:solidFill>
                <a:latin typeface="Manrope"/>
              </a:rPr>
              <a:t>, вклад H = 2·1 = 2. Знаменатель Mᵣ(H₂O) = 18; ω(H) = 2/18 ≈ 0,1111, или 11,1%.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Два расчёта доли кислорода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H₂O:</a:t>
            </a:r>
            <a:r>
              <a:rPr sz="2200" b="0">
                <a:solidFill>
                  <a:srgbClr val="151515"/>
                </a:solidFill>
                <a:latin typeface="Manrope"/>
              </a:rPr>
              <a:t> Mᵣ = 18; ω(O) = 16/18 ≈ 0,8889, или </a:t>
            </a:r>
            <a:r>
              <a:rPr sz="2200" b="1">
                <a:solidFill>
                  <a:srgbClr val="F13A43"/>
                </a:solidFill>
                <a:latin typeface="Manrope"/>
              </a:rPr>
              <a:t>88,9%</a:t>
            </a:r>
            <a:r>
              <a:rPr sz="2200" b="0">
                <a:solidFill>
                  <a:srgbClr val="151515"/>
                </a:solidFill>
                <a:latin typeface="Manrope"/>
              </a:rPr>
              <a:t> после округления.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MgO:</a:t>
            </a:r>
            <a:r>
              <a:rPr sz="2200" b="0">
                <a:solidFill>
                  <a:srgbClr val="151515"/>
                </a:solidFill>
                <a:latin typeface="Manrope"/>
              </a:rPr>
              <a:t> Mᵣ = 40; ω(O) = 16/40 = 0,4 = </a:t>
            </a:r>
            <a:r>
              <a:rPr sz="2200" b="1">
                <a:solidFill>
                  <a:srgbClr val="F13A43"/>
                </a:solidFill>
                <a:latin typeface="Manrope"/>
              </a:rPr>
              <a:t>40%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Записываем процент только после умножения доли на 100%. Округляем окончательный процент до десятых, если он не целый.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50407"/>
            <a:ext cx="10698480" cy="8046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641847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13A43"/>
                </a:solidFill>
                <a:latin typeface="Unbounded"/>
              </a:rPr>
              <a:t>ЗАДАНИЕ:  </a:t>
            </a:r>
            <a:r>
              <a:rPr sz="1900" b="0">
                <a:solidFill>
                  <a:srgbClr val="F3F0E8"/>
                </a:solidFill>
                <a:latin typeface="Manrope"/>
              </a:rPr>
              <a:t>проверь долю кислорода в MgO по доле Mg.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8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Два расчёта доли кислорода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ω(Mg) = 24/40 = 0,6 = </a:t>
            </a:r>
            <a:r>
              <a:rPr sz="2400" b="1">
                <a:solidFill>
                  <a:srgbClr val="F3F0E8"/>
                </a:solidFill>
                <a:latin typeface="Manrope"/>
              </a:rPr>
              <a:t>60%</a:t>
            </a:r>
            <a:r>
              <a:rPr sz="2400" b="0">
                <a:solidFill>
                  <a:srgbClr val="F3F0E8"/>
                </a:solidFill>
                <a:latin typeface="Manrope"/>
              </a:rPr>
              <a:t>; 40% + 60% = 100%. Масса конкретного образца пока не задана.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Что именно сохраняется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В химической реакции атомы перестраиваются. В замкнутой системе сохраняется </a:t>
            </a:r>
            <a:r>
              <a:rPr sz="2200" b="1">
                <a:solidFill>
                  <a:srgbClr val="F13A43"/>
                </a:solidFill>
                <a:latin typeface="Manrope"/>
              </a:rPr>
              <a:t>масса всех веществ</a:t>
            </a:r>
            <a:r>
              <a:rPr sz="2200" b="0">
                <a:solidFill>
                  <a:srgbClr val="151515"/>
                </a:solidFill>
                <a:latin typeface="Manrope"/>
              </a:rPr>
              <a:t>: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Сумма масс до = сумма масс после.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Условие для расчёта: в замкнутой системе 12 г Mg и 8 г O₂ полностью превратились только в MgO. Найди массу продукта.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Если газ ушёл из открытого сосуда, его нужно учитывать отдельно; масса остатка — не масса всей системы.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9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Что именно сохраняется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m(MgO) = 12 + 8 = </a:t>
            </a:r>
            <a:r>
              <a:rPr sz="2400" b="1">
                <a:solidFill>
                  <a:srgbClr val="F3F0E8"/>
                </a:solidFill>
                <a:latin typeface="Manrope"/>
              </a:rPr>
              <a:t>20 г</a:t>
            </a:r>
            <a:r>
              <a:rPr sz="2400" b="0">
                <a:solidFill>
                  <a:srgbClr val="F3F0E8"/>
                </a:solidFill>
                <a:latin typeface="Manrope"/>
              </a:rPr>
              <a:t>. В открытом сосуде выход газа меняет массу оставшегося содержимого, не нарушая общего сохранения массы.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Коэффициенты и соединение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Дано: </a:t>
            </a:r>
            <a:r>
              <a:rPr sz="2200" b="1">
                <a:solidFill>
                  <a:srgbClr val="F13A43"/>
                </a:solidFill>
                <a:latin typeface="Manrope"/>
              </a:rPr>
              <a:t>Mg + O₂ → MgO</a:t>
            </a:r>
            <a:r>
              <a:rPr sz="2200" b="0">
                <a:solidFill>
                  <a:srgbClr val="151515"/>
                </a:solidFill>
                <a:latin typeface="Manrope"/>
              </a:rPr>
              <a:t>, условие — нагрев.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1.  </a:t>
            </a:r>
            <a:r>
              <a:rPr sz="2200" b="0">
                <a:solidFill>
                  <a:srgbClr val="151515"/>
                </a:solidFill>
                <a:latin typeface="Manrope"/>
              </a:rPr>
              <a:t>Посчитай атомы по обе стороны.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2.  </a:t>
            </a:r>
            <a:r>
              <a:rPr sz="2200" b="0">
                <a:solidFill>
                  <a:srgbClr val="151515"/>
                </a:solidFill>
                <a:latin typeface="Manrope"/>
              </a:rPr>
              <a:t>Меняй только коэффициенты перед целыми формулами.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3.  </a:t>
            </a:r>
            <a:r>
              <a:rPr sz="2200" b="0">
                <a:solidFill>
                  <a:srgbClr val="151515"/>
                </a:solidFill>
                <a:latin typeface="Manrope"/>
              </a:rPr>
              <a:t>Проверь каждый элемент.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4.  </a:t>
            </a:r>
            <a:r>
              <a:rPr sz="2200" b="0">
                <a:solidFill>
                  <a:srgbClr val="151515"/>
                </a:solidFill>
                <a:latin typeface="Manrope"/>
              </a:rPr>
              <a:t>Возьми наименьшие целые коэффициенты.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2Mg + O₂ → 2MgO.</a:t>
            </a:r>
            <a:r>
              <a:rPr sz="2200" b="0">
                <a:solidFill>
                  <a:srgbClr val="151515"/>
                </a:solidFill>
                <a:latin typeface="Manrope"/>
              </a:rPr>
              <a:t> Mg: 2 = 2; O: 2 = 2.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Соединение:</a:t>
            </a:r>
            <a:r>
              <a:rPr sz="2200" b="0">
                <a:solidFill>
                  <a:srgbClr val="151515"/>
                </a:solidFill>
                <a:latin typeface="Manrope"/>
              </a:rPr>
              <a:t> несколько исходных веществ → одно вещество.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10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Коэффициенты и соединение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Нельзя: изменится заданный продукт, это уже другая схема. Для MgO нужен ответ </a:t>
            </a:r>
            <a:r>
              <a:rPr sz="2400" b="1">
                <a:solidFill>
                  <a:srgbClr val="F3F0E8"/>
                </a:solidFill>
                <a:latin typeface="Manrope"/>
              </a:rPr>
              <a:t>2 : 1 : 2</a:t>
            </a:r>
            <a:r>
              <a:rPr sz="2400" b="0">
                <a:solidFill>
                  <a:srgbClr val="F3F0E8"/>
                </a:solidFill>
                <a:latin typeface="Manrope"/>
              </a:rPr>
              <a:t>; индекс 1 у O в MgO не меняется.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35" b="1">
                <a:solidFill>
                  <a:srgbClr val="151515"/>
                </a:solidFill>
                <a:latin typeface="Unbounded"/>
              </a:rPr>
              <a:t>Разложение: коэффициент 1 тоже подходит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Дано: </a:t>
            </a:r>
            <a:r>
              <a:rPr sz="2200" b="1">
                <a:solidFill>
                  <a:srgbClr val="F13A43"/>
                </a:solidFill>
                <a:latin typeface="Manrope"/>
              </a:rPr>
              <a:t>CaCO₃ → CaO + CO₂</a:t>
            </a:r>
            <a:r>
              <a:rPr sz="2200" b="0">
                <a:solidFill>
                  <a:srgbClr val="151515"/>
                </a:solidFill>
                <a:latin typeface="Manrope"/>
              </a:rPr>
              <a:t>, условие — нагрев.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Элемент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Слева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3F0E8"/>
                          </a:solidFill>
                          <a:latin typeface="Manrope"/>
                        </a:rPr>
                        <a:t>Справа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C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51515"/>
                          </a:solidFill>
                          <a:latin typeface="Manrope"/>
                        </a:rPr>
                        <a:t>1 + 2 =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886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Коэффициенты </a:t>
            </a:r>
            <a:r>
              <a:rPr sz="2200" b="1">
                <a:solidFill>
                  <a:srgbClr val="F13A43"/>
                </a:solidFill>
                <a:latin typeface="Manrope"/>
              </a:rPr>
              <a:t>1 : 1 : 1</a:t>
            </a:r>
            <a:r>
              <a:rPr sz="2200" b="0">
                <a:solidFill>
                  <a:srgbClr val="151515"/>
                </a:solidFill>
                <a:latin typeface="Manrope"/>
              </a:rPr>
              <a:t>, единицы обычно не пишем.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Разложение:</a:t>
            </a:r>
            <a:r>
              <a:rPr sz="2200" b="0">
                <a:solidFill>
                  <a:srgbClr val="151515"/>
                </a:solidFill>
                <a:latin typeface="Manrope"/>
              </a:rPr>
              <a:t> одно исходное вещество → несколько веществ.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11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Разложение: коэффициент 1 тоже подходит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Схема уже уравнена. Одно вещество CaCO₃ образует CaO и CO₂; это разложение независимо от того, что коэффициенты равны 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68" b="1">
                <a:solidFill>
                  <a:srgbClr val="151515"/>
                </a:solidFill>
                <a:latin typeface="Unbounded"/>
              </a:rPr>
              <a:t>Короткая попытка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L6.</a:t>
            </a:r>
            <a:r>
              <a:rPr sz="2200" b="0">
                <a:solidFill>
                  <a:srgbClr val="151515"/>
                </a:solidFill>
                <a:latin typeface="Manrope"/>
              </a:rPr>
              <a:t> Na(I), O(II): составь простую формулу и проверь валентности.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L7.</a:t>
            </a:r>
            <a:r>
              <a:rPr sz="2200" b="0">
                <a:solidFill>
                  <a:srgbClr val="151515"/>
                </a:solidFill>
                <a:latin typeface="Manrope"/>
              </a:rPr>
              <a:t> CaO: найди относительную формульную массу и ω(O) в процентах. Aᵣ(Ca) = 40, Aᵣ(O) = 16.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L8.</a:t>
            </a:r>
            <a:r>
              <a:rPr sz="2200" b="0">
                <a:solidFill>
                  <a:srgbClr val="151515"/>
                </a:solidFill>
                <a:latin typeface="Manrope"/>
              </a:rPr>
              <a:t> Mg + O₂ → MgO: уравняй и назови тип.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До урока 4: G1–G3 из ДЗ, </a:t>
            </a:r>
            <a:r>
              <a:rPr sz="2200" b="1">
                <a:solidFill>
                  <a:srgbClr val="F13A43"/>
                </a:solidFill>
                <a:latin typeface="Manrope"/>
              </a:rPr>
              <a:t>15 минут</a:t>
            </a:r>
            <a:r>
              <a:rPr sz="2200" b="0">
                <a:solidFill>
                  <a:srgbClr val="151515"/>
                </a:solidFill>
                <a:latin typeface="Manrope"/>
              </a:rPr>
              <a:t>. Запиши один вопрос, который остался.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12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Короткая попытка и следующий шаг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L6: </a:t>
            </a:r>
            <a:r>
              <a:rPr sz="2400" b="1">
                <a:solidFill>
                  <a:srgbClr val="F3F0E8"/>
                </a:solidFill>
                <a:latin typeface="Manrope"/>
              </a:rPr>
              <a:t>Na₂O</a:t>
            </a:r>
            <a:r>
              <a:rPr sz="2400" b="0">
                <a:solidFill>
                  <a:srgbClr val="F3F0E8"/>
                </a:solidFill>
                <a:latin typeface="Manrope"/>
              </a:rPr>
              <a:t>, 2·I = 1·II = 2. L7: Mᵣ = </a:t>
            </a:r>
            <a:r>
              <a:rPr sz="2400" b="1">
                <a:solidFill>
                  <a:srgbClr val="F3F0E8"/>
                </a:solidFill>
                <a:latin typeface="Manrope"/>
              </a:rPr>
              <a:t>56</a:t>
            </a:r>
            <a:r>
              <a:rPr sz="2400" b="0">
                <a:solidFill>
                  <a:srgbClr val="F3F0E8"/>
                </a:solidFill>
                <a:latin typeface="Manrope"/>
              </a:rPr>
              <a:t>; ω(O) = 16/56 · 100% ≈ </a:t>
            </a:r>
            <a:r>
              <a:rPr sz="2400" b="1">
                <a:solidFill>
                  <a:srgbClr val="F3F0E8"/>
                </a:solidFill>
                <a:latin typeface="Manrope"/>
              </a:rPr>
              <a:t>28,6%</a:t>
            </a:r>
            <a:r>
              <a:rPr sz="2400" b="0">
                <a:solidFill>
                  <a:srgbClr val="F3F0E8"/>
                </a:solidFill>
                <a:latin typeface="Manrope"/>
              </a:rPr>
              <a:t>. L8: </a:t>
            </a:r>
            <a:r>
              <a:rPr sz="2400" b="1">
                <a:solidFill>
                  <a:srgbClr val="F3F0E8"/>
                </a:solidFill>
                <a:latin typeface="Manrope"/>
              </a:rPr>
              <a:t>2Mg + O₂ → 2MgO</a:t>
            </a:r>
            <a:r>
              <a:rPr sz="2400" b="0">
                <a:solidFill>
                  <a:srgbClr val="F3F0E8"/>
                </a:solidFill>
                <a:latin typeface="Manrope"/>
              </a:rPr>
              <a:t>, соединение; Mg 2 = 2, O 2 = 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Урок 4: повторяем алгоритм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L9.</a:t>
            </a:r>
            <a:r>
              <a:rPr sz="2200" b="0">
                <a:solidFill>
                  <a:srgbClr val="151515"/>
                </a:solidFill>
                <a:latin typeface="Manrope"/>
              </a:rPr>
              <a:t> Ca(II), O(II): формула с наименьшими индексами и относительная формульная масса. Aᵣ(Ca) = 40, O = 16.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L10.</a:t>
            </a:r>
            <a:r>
              <a:rPr sz="2200" b="0">
                <a:solidFill>
                  <a:srgbClr val="151515"/>
                </a:solidFill>
                <a:latin typeface="Manrope"/>
              </a:rPr>
              <a:t> а) MgO: найди ω(O) в %. Aᵣ(Mg) = 24, O = 16. б) CaCO₃ → CaO + CO₂ при нагревании: проверь коэффициенты и назови тип.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Самопроверка: </a:t>
            </a:r>
            <a:r>
              <a:rPr sz="2200" b="1">
                <a:solidFill>
                  <a:srgbClr val="F13A43"/>
                </a:solidFill>
                <a:latin typeface="Manrope"/>
              </a:rPr>
              <a:t>индексы → вся относительная масса → вклад элемента → коэффициенты → атомы → тип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13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Урок 4: повторяем алгоритм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L9: </a:t>
            </a:r>
            <a:r>
              <a:rPr sz="2400" b="1">
                <a:solidFill>
                  <a:srgbClr val="F3F0E8"/>
                </a:solidFill>
                <a:latin typeface="Manrope"/>
              </a:rPr>
              <a:t>CaO</a:t>
            </a:r>
            <a:r>
              <a:rPr sz="2400" b="0">
                <a:solidFill>
                  <a:srgbClr val="F3F0E8"/>
                </a:solidFill>
                <a:latin typeface="Manrope"/>
              </a:rPr>
              <a:t>, 1·II = 1·II; Mᵣ = </a:t>
            </a:r>
            <a:r>
              <a:rPr sz="2400" b="1">
                <a:solidFill>
                  <a:srgbClr val="F3F0E8"/>
                </a:solidFill>
                <a:latin typeface="Manrope"/>
              </a:rPr>
              <a:t>56</a:t>
            </a:r>
            <a:r>
              <a:rPr sz="2400" b="0">
                <a:solidFill>
                  <a:srgbClr val="F3F0E8"/>
                </a:solidFill>
                <a:latin typeface="Manrope"/>
              </a:rPr>
              <a:t>. L10: </a:t>
            </a:r>
            <a:r>
              <a:rPr sz="2400" b="1">
                <a:solidFill>
                  <a:srgbClr val="F3F0E8"/>
                </a:solidFill>
                <a:latin typeface="Manrope"/>
              </a:rPr>
              <a:t>40%</a:t>
            </a:r>
            <a:r>
              <a:rPr sz="2400" b="0">
                <a:solidFill>
                  <a:srgbClr val="F3F0E8"/>
                </a:solidFill>
                <a:latin typeface="Manrope"/>
              </a:rPr>
              <a:t>; CaCO₃ → CaO + CO₂, коэффициенты </a:t>
            </a:r>
            <a:r>
              <a:rPr sz="2400" b="1">
                <a:solidFill>
                  <a:srgbClr val="F3F0E8"/>
                </a:solidFill>
                <a:latin typeface="Manrope"/>
              </a:rPr>
              <a:t>1 : 1 : 1</a:t>
            </a:r>
            <a:r>
              <a:rPr sz="2400" b="0">
                <a:solidFill>
                  <a:srgbClr val="F3F0E8"/>
                </a:solidFill>
                <a:latin typeface="Manrope"/>
              </a:rPr>
              <a:t>, O 3 = 1 + 2, разложение.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Формула и вклад элемента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L11.</a:t>
            </a:r>
            <a:r>
              <a:rPr sz="2200" b="0">
                <a:solidFill>
                  <a:srgbClr val="151515"/>
                </a:solidFill>
                <a:latin typeface="Manrope"/>
              </a:rPr>
              <a:t> Даны Mg(II), Na(I), O(II). Составь формулы Mg/O и Na/O, проверь валентности.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L12.</a:t>
            </a:r>
            <a:r>
              <a:rPr sz="2200" b="0">
                <a:solidFill>
                  <a:srgbClr val="151515"/>
                </a:solidFill>
                <a:latin typeface="Manrope"/>
              </a:rPr>
              <a:t> Для данной Al₂O₃ найди Mᵣ и ω(O) в %. Проверь по доле Al. Aᵣ(Al) = 27, Aᵣ(O) = 16.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Строки решения: </a:t>
            </a:r>
            <a:r>
              <a:rPr sz="2200" b="1">
                <a:solidFill>
                  <a:srgbClr val="F13A43"/>
                </a:solidFill>
                <a:latin typeface="Manrope"/>
              </a:rPr>
              <a:t>индекс · Aᵣ → сумма → вклад O / сумма → процент</a:t>
            </a:r>
            <a:r>
              <a:rPr sz="2200" b="0">
                <a:solidFill>
                  <a:srgbClr val="151515"/>
                </a:solidFill>
                <a:latin typeface="Manrope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14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Формула и вклад элемента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L11: </a:t>
            </a:r>
            <a:r>
              <a:rPr sz="2400" b="1">
                <a:solidFill>
                  <a:srgbClr val="F3F0E8"/>
                </a:solidFill>
                <a:latin typeface="Manrope"/>
              </a:rPr>
              <a:t>MgO</a:t>
            </a:r>
            <a:r>
              <a:rPr sz="2400" b="0">
                <a:solidFill>
                  <a:srgbClr val="F3F0E8"/>
                </a:solidFill>
                <a:latin typeface="Manrope"/>
              </a:rPr>
              <a:t>, 1·II = 1·II; </a:t>
            </a:r>
            <a:r>
              <a:rPr sz="2400" b="1">
                <a:solidFill>
                  <a:srgbClr val="F3F0E8"/>
                </a:solidFill>
                <a:latin typeface="Manrope"/>
              </a:rPr>
              <a:t>Na₂O</a:t>
            </a:r>
            <a:r>
              <a:rPr sz="2400" b="0">
                <a:solidFill>
                  <a:srgbClr val="F3F0E8"/>
                </a:solidFill>
                <a:latin typeface="Manrope"/>
              </a:rPr>
              <a:t>, 2·I = 1·II. L12: Mᵣ = 54 + 48 = </a:t>
            </a:r>
            <a:r>
              <a:rPr sz="2400" b="1">
                <a:solidFill>
                  <a:srgbClr val="F3F0E8"/>
                </a:solidFill>
                <a:latin typeface="Manrope"/>
              </a:rPr>
              <a:t>102</a:t>
            </a:r>
            <a:r>
              <a:rPr sz="2400" b="0">
                <a:solidFill>
                  <a:srgbClr val="F3F0E8"/>
                </a:solidFill>
                <a:latin typeface="Manrope"/>
              </a:rPr>
              <a:t>; ω(O) = 48/102 · 100% ≈ </a:t>
            </a:r>
            <a:r>
              <a:rPr sz="2400" b="1">
                <a:solidFill>
                  <a:srgbClr val="F3F0E8"/>
                </a:solidFill>
                <a:latin typeface="Manrope"/>
              </a:rPr>
              <a:t>47,1%</a:t>
            </a:r>
            <a:r>
              <a:rPr sz="2400" b="0">
                <a:solidFill>
                  <a:srgbClr val="F3F0E8"/>
                </a:solidFill>
                <a:latin typeface="Manrope"/>
              </a:rPr>
              <a:t>; ω(Al) ≈ </a:t>
            </a:r>
            <a:r>
              <a:rPr sz="2400" b="1">
                <a:solidFill>
                  <a:srgbClr val="F3F0E8"/>
                </a:solidFill>
                <a:latin typeface="Manrope"/>
              </a:rPr>
              <a:t>52,9%</a:t>
            </a:r>
            <a:r>
              <a:rPr sz="2400" b="0">
                <a:solidFill>
                  <a:srgbClr val="F3F0E8"/>
                </a:solidFill>
                <a:latin typeface="Manrope"/>
              </a:rPr>
              <a:t>; сумма ≈ 100%.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1515"/>
                </a:solidFill>
                <a:latin typeface="Unbounded"/>
              </a:rPr>
              <a:t>Та же проверка на новых схемах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Подбери наименьшие целые коэффициенты. Сохрани все формулы, проверь каждый элемент, назови соединение или разложение.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1">
                <a:solidFill>
                  <a:srgbClr val="F13A43"/>
                </a:solidFill>
                <a:latin typeface="Manrope"/>
              </a:rPr>
              <a:t>L13:</a:t>
            </a:r>
            <a:r>
              <a:rPr sz="2200" b="0">
                <a:solidFill>
                  <a:srgbClr val="151515"/>
                </a:solidFill>
                <a:latin typeface="Manrope"/>
              </a:rPr>
              <a:t> Al + O₂ → Al₂O₃, нагрев.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1">
                <a:solidFill>
                  <a:srgbClr val="F13A43"/>
                </a:solidFill>
                <a:latin typeface="Manrope"/>
              </a:rPr>
              <a:t>L14:</a:t>
            </a:r>
            <a:r>
              <a:rPr sz="2200" b="0">
                <a:solidFill>
                  <a:srgbClr val="151515"/>
                </a:solidFill>
                <a:latin typeface="Manrope"/>
              </a:rPr>
              <a:t> H₂O₂ → H₂O + O₂, катализатор — данное условие.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13A43"/>
                </a:solidFill>
                <a:latin typeface="Manrope"/>
              </a:rPr>
              <a:t>■  </a:t>
            </a:r>
            <a:r>
              <a:rPr sz="2200" b="1">
                <a:solidFill>
                  <a:srgbClr val="F13A43"/>
                </a:solidFill>
                <a:latin typeface="Manrope"/>
              </a:rPr>
              <a:t>L16:</a:t>
            </a:r>
            <a:r>
              <a:rPr sz="2200" b="0">
                <a:solidFill>
                  <a:srgbClr val="151515"/>
                </a:solidFill>
                <a:latin typeface="Manrope"/>
              </a:rPr>
              <a:t> H₂ + Cl₂ → HCl, инициирование светом.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Схемы решаем </a:t>
            </a:r>
            <a:r>
              <a:rPr sz="2200" b="1">
                <a:solidFill>
                  <a:srgbClr val="F13A43"/>
                </a:solidFill>
                <a:latin typeface="Manrope"/>
              </a:rPr>
              <a:t>на бумаге</a:t>
            </a:r>
            <a:r>
              <a:rPr sz="2200" b="0">
                <a:solidFill>
                  <a:srgbClr val="151515"/>
                </a:solidFill>
                <a:latin typeface="Manrope"/>
              </a:rPr>
              <a:t>; домашние опыты с нагревом и газами не назначаются.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15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Та же проверка на новых схемах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L13: </a:t>
            </a:r>
            <a:r>
              <a:rPr sz="2400" b="1">
                <a:solidFill>
                  <a:srgbClr val="F3F0E8"/>
                </a:solidFill>
                <a:latin typeface="Manrope"/>
              </a:rPr>
              <a:t>4Al + 3O₂ → 2Al₂O₃</a:t>
            </a:r>
            <a:r>
              <a:rPr sz="2400" b="0">
                <a:solidFill>
                  <a:srgbClr val="F3F0E8"/>
                </a:solidFill>
                <a:latin typeface="Manrope"/>
              </a:rPr>
              <a:t>, Al 4 = 4, O 6 = 6, соединение. L14: </a:t>
            </a:r>
            <a:r>
              <a:rPr sz="2400" b="1">
                <a:solidFill>
                  <a:srgbClr val="F3F0E8"/>
                </a:solidFill>
                <a:latin typeface="Manrope"/>
              </a:rPr>
              <a:t>2H₂O₂ → 2H₂O + O₂</a:t>
            </a:r>
            <a:r>
              <a:rPr sz="2400" b="0">
                <a:solidFill>
                  <a:srgbClr val="F3F0E8"/>
                </a:solidFill>
                <a:latin typeface="Manrope"/>
              </a:rPr>
              <a:t>, H 4 = 4, O 4 = 2 + 2, разложение. L16: </a:t>
            </a:r>
            <a:r>
              <a:rPr sz="2400" b="1">
                <a:solidFill>
                  <a:srgbClr val="F3F0E8"/>
                </a:solidFill>
                <a:latin typeface="Manrope"/>
              </a:rPr>
              <a:t>H₂ + Cl₂ → 2HCl</a:t>
            </a:r>
            <a:r>
              <a:rPr sz="2400" b="0">
                <a:solidFill>
                  <a:srgbClr val="F3F0E8"/>
                </a:solidFill>
                <a:latin typeface="Manrope"/>
              </a:rPr>
              <a:t>, H 2 = 2, Cl 2 = 2, соединение.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1515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760"/>
                </a:solidFill>
                <a:latin typeface="Manrope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75" b="1">
                <a:solidFill>
                  <a:srgbClr val="151515"/>
                </a:solidFill>
                <a:latin typeface="Unbounded"/>
              </a:rPr>
              <a:t>Масса системы, контроль, домашняя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13A43"/>
                </a:solidFill>
                <a:latin typeface="Manrope"/>
              </a:rPr>
              <a:t>L15.</a:t>
            </a:r>
            <a:r>
              <a:rPr sz="2200" b="0">
                <a:solidFill>
                  <a:srgbClr val="151515"/>
                </a:solidFill>
                <a:latin typeface="Manrope"/>
              </a:rPr>
              <a:t> В замкнутой системе 10 г CaCO₃ полностью разложились на CaO и CO₂. Масса CaO — 5,6 г, газ остался в системе. Найди массу CO₂ и суммарную массу продуктов. Почему в открытом сосуде нельзя сравнить только остаток с начальной массой?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После практики: </a:t>
            </a:r>
            <a:r>
              <a:rPr sz="2200" b="1">
                <a:solidFill>
                  <a:srgbClr val="F13A43"/>
                </a:solidFill>
                <a:latin typeface="Manrope"/>
              </a:rPr>
              <a:t>контроль 10 минут, 78–88</a:t>
            </a:r>
            <a:r>
              <a:rPr sz="2200" b="0">
                <a:solidFill>
                  <a:srgbClr val="151515"/>
                </a:solidFill>
                <a:latin typeface="Manrope"/>
              </a:rPr>
              <a:t>. До сдачи ключ закрыт.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51515"/>
                </a:solidFill>
                <a:latin typeface="Manrope"/>
              </a:rPr>
              <a:t>После урока: </a:t>
            </a:r>
            <a:r>
              <a:rPr sz="2200" b="1">
                <a:solidFill>
                  <a:srgbClr val="F13A43"/>
                </a:solidFill>
                <a:latin typeface="Manrope"/>
              </a:rPr>
              <a:t>G4–G8 + один A/B/C — 50 минут</a:t>
            </a:r>
            <a:r>
              <a:rPr sz="2200" b="0">
                <a:solidFill>
                  <a:srgbClr val="151515"/>
                </a:solidFill>
                <a:latin typeface="Manrope"/>
              </a:rPr>
              <a:t>, исправления 25 минут, повторение 15 минут.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18872" cy="118872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3F0E8"/>
                </a:solidFill>
                <a:latin typeface="Manrope"/>
              </a:rPr>
              <a:t>ХИМИЯ ПРОСТО · НЕДЕЛЯ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474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A8A39A"/>
                </a:solidFill>
                <a:latin typeface="Manrope"/>
              </a:rPr>
              <a:t>16 / 16 · ответ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731520" y="914400"/>
            <a:ext cx="1737360" cy="594360"/>
          </a:xfrm>
          <a:prstGeom prst="rect">
            <a:avLst/>
          </a:prstGeom>
          <a:solidFill>
            <a:srgbClr val="F13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144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8A39A"/>
                </a:solidFill>
                <a:latin typeface="Unbounded"/>
              </a:rPr>
              <a:t>Масса системы, контроль, домашняя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3F0E8"/>
                </a:solidFill>
                <a:latin typeface="Manrope"/>
              </a:rPr>
              <a:t>L15: m(CO₂) = 10 − 5,6 = </a:t>
            </a:r>
            <a:r>
              <a:rPr sz="2400" b="1">
                <a:solidFill>
                  <a:srgbClr val="F3F0E8"/>
                </a:solidFill>
                <a:latin typeface="Manrope"/>
              </a:rPr>
              <a:t>4,4 г</a:t>
            </a:r>
            <a:r>
              <a:rPr sz="2400" b="0">
                <a:solidFill>
                  <a:srgbClr val="F3F0E8"/>
                </a:solidFill>
                <a:latin typeface="Manrope"/>
              </a:rPr>
              <a:t>; сумма продуктов </a:t>
            </a:r>
            <a:r>
              <a:rPr sz="2400" b="1">
                <a:solidFill>
                  <a:srgbClr val="F3F0E8"/>
                </a:solidFill>
                <a:latin typeface="Manrope"/>
              </a:rPr>
              <a:t>10 г</a:t>
            </a:r>
            <a:r>
              <a:rPr sz="2400" b="0">
                <a:solidFill>
                  <a:srgbClr val="F3F0E8"/>
                </a:solidFill>
                <a:latin typeface="Manrope"/>
              </a:rPr>
              <a:t>. В открытом сосуде газ ушёл за выбранную границу; масса остатка 5,6 г не равна массе всех продуктов. Ключи и частичные баллы контроля — в преподавательской части quiz; не показывать их до сдачи.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